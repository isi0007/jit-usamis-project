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5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</a:rPr>
              <a:t>USAMIS</a:t>
            </a:r>
          </a:p>
          <a:p>
            <a:r>
              <a:rPr sz="2000">
                <a:solidFill>
                  <a:srgbClr val="CFE0F5"/>
                </a:solidFill>
              </a:rPr>
              <a:t>University Student Academic Management Information System</a:t>
            </a:r>
          </a:p>
          <a:p>
            <a:r>
              <a:rPr sz="1400">
                <a:solidFill>
                  <a:srgbClr val="9FBFE0"/>
                </a:solidFill>
              </a:rPr>
              <a:t>Engineering Design &amp; Implementation  ·  Jinling Institute of Technology</a:t>
            </a:r>
          </a:p>
          <a:p>
            <a:r>
              <a:rPr sz="1300">
                <a:solidFill>
                  <a:srgbClr val="9FBFE0"/>
                </a:solidFill>
              </a:rPr>
              <a:t>Yaseen Hussain (2422486012)  ·  Supervisor: Prof. Li Wei  ·  Oct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Why an MIS, not a database</a:t>
            </a:r>
          </a:p>
          <a:p>
            <a:r>
              <a:rPr sz="1400">
                <a:solidFill>
                  <a:srgbClr val="555555"/>
                </a:solidFill>
              </a:rPr>
              <a:t>Fragmented academic data → role-filtered management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222"/>
                </a:solidFill>
              </a:rPr>
              <a:t>•  Raw academic data (scores, fees, enrollments) is fragmented and hard to act on.</a:t>
            </a:r>
          </a:p>
          <a:p>
            <a:r>
              <a:rPr sz="1600">
                <a:solidFill>
                  <a:srgbClr val="222222"/>
                </a:solidFill>
              </a:rPr>
              <a:t>•  USAMIS transforms it into information that supports decisions:</a:t>
            </a:r>
          </a:p>
          <a:p>
            <a:r>
              <a:rPr sz="1600">
                <a:solidFill>
                  <a:srgbClr val="222222"/>
                </a:solidFill>
              </a:rPr>
              <a:t>•     – early at-risk intervention (GPA &lt; 2.5)</a:t>
            </a:r>
          </a:p>
          <a:p>
            <a:r>
              <a:rPr sz="1600">
                <a:solidFill>
                  <a:srgbClr val="222222"/>
                </a:solidFill>
              </a:rPr>
              <a:t>•     – fee-collection monitoring (62.5% collected, defaulters listed)</a:t>
            </a:r>
          </a:p>
          <a:p>
            <a:r>
              <a:rPr sz="1600">
                <a:solidFill>
                  <a:srgbClr val="222222"/>
                </a:solidFill>
              </a:rPr>
              <a:t>•     – course-capacity planning (enrolled vs maximum)</a:t>
            </a:r>
          </a:p>
          <a:p>
            <a:r>
              <a:rPr sz="1600">
                <a:solidFill>
                  <a:srgbClr val="222222"/>
                </a:solidFill>
              </a:rPr>
              <a:t>•     – accountability (append-only audit trail)</a:t>
            </a:r>
          </a:p>
          <a:p>
            <a:r>
              <a:rPr sz="1600">
                <a:solidFill>
                  <a:srgbClr val="222222"/>
                </a:solidFill>
              </a:rPr>
              <a:t>•  Same data, different information per role (admin / registrar / lecturer / finance / student).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Architecture</a:t>
            </a:r>
          </a:p>
          <a:p>
            <a:r>
              <a:rPr sz="1400">
                <a:solidFill>
                  <a:srgbClr val="555555"/>
                </a:solidFill>
              </a:rPr>
              <a:t>One public port; AI reached only through the backend</a:t>
            </a:r>
          </a:p>
        </p:txBody>
      </p:sp>
      <p:pic>
        <p:nvPicPr>
          <p:cNvPr id="3" name="Picture 2" descr="F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768260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Modules M-01 … M-10</a:t>
            </a:r>
          </a:p>
          <a:p>
            <a:r>
              <a:rPr sz="1400">
                <a:solidFill>
                  <a:srgbClr val="555555"/>
                </a:solidFill>
              </a:rPr>
              <a:t>10 modules, 34 functional requirements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36576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Users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Authentication &amp; Authorization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User &amp; Role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Student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admin, registrar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Course Catalog → M-04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admin, registrar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Enrollment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admin, registrar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Grades &amp; Transcripts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admin, lecturer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Fees &amp; Payments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admin, finance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Reports &amp;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admin, registrar, finance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System 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AI Decision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 staff; student self-scoped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Data model</a:t>
            </a:r>
          </a:p>
          <a:p>
            <a:r>
              <a:rPr sz="1400">
                <a:solidFill>
                  <a:srgbClr val="555555"/>
                </a:solidFill>
              </a:rPr>
              <a:t>3NF · 15 tables · 21 foreign keys · 3 computed views</a:t>
            </a:r>
          </a:p>
        </p:txBody>
      </p:sp>
      <p:pic>
        <p:nvPicPr>
          <p:cNvPr id="3" name="Picture 2" descr="F4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711512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Security — defence in depth</a:t>
            </a:r>
          </a:p>
          <a:p>
            <a:r>
              <a:rPr sz="1400">
                <a:solidFill>
                  <a:srgbClr val="555555"/>
                </a:solidFill>
              </a:rPr>
              <a:t>Verified, not assumed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070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36576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Credentials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BCrypt (cost 12), no plaintext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HttpOnly, SameSite=Strict, 60-min TTL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AuthFilter + per-servlet RBAC; 5 roles / 13 permissions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21 FKs, UNIQUE/CHECK constraints, parameterized SQL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Anti-IDOR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students self-scoped on every endpoint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append-only; denials recorded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AI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loopback-only, token-gated, fail-closed 503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AI Decision Support (M-10)</a:t>
            </a:r>
          </a:p>
          <a:p>
            <a:r>
              <a:rPr sz="1400">
                <a:solidFill>
                  <a:srgbClr val="555555"/>
                </a:solidFill>
              </a:rPr>
              <a:t>Isolated FastAPI service, real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36576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mlp_performance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mlp_performance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MAE /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5.8126 / 7.1903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mlp_performance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Risk precision / recall /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0.7741 / 0.8741 / 0.8211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lstm_enrollment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val RMSE (scaled)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0.24971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22222"/>
                </a:solidFill>
              </a:rPr>
              <a:t>•  Trained on a synthetic generator (disclosed); threshold = 60.</a:t>
            </a:r>
          </a:p>
          <a:p>
            <a:r>
              <a:rPr sz="1300">
                <a:solidFill>
                  <a:srgbClr val="222222"/>
                </a:solidFill>
              </a:rPr>
              <a:t>•  Graceful degradation: AI down → /api/ai/* 503, rest of app unaffected.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Verification</a:t>
            </a:r>
          </a:p>
          <a:p>
            <a:r>
              <a:rPr sz="1400">
                <a:solidFill>
                  <a:srgbClr val="555555"/>
                </a:solidFill>
              </a:rPr>
              <a:t>Every number from a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070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36576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Suite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smoke-test.ps1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 / 23 PASS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verify-ai.py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19 / 19 PASS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pytest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14 / 14 PASS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56 / 56 PASS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RBAC per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IDOR probes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leaks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22222"/>
                </a:solidFill>
              </a:rPr>
              <a:t>•  Verdict: READY for course scope.</a:t>
            </a:r>
          </a:p>
          <a:p>
            <a:r>
              <a:rPr sz="1300">
                <a:solidFill>
                  <a:srgbClr val="222222"/>
                </a:solidFill>
              </a:rPr>
              <a:t>•  Build compiles; single-port AI works end to 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355B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222222"/>
                </a:solidFill>
              </a:rPr>
              <a:t>•  A genuine MIS: collects, processes, transforms, distributes, protects academic information.</a:t>
            </a:r>
          </a:p>
          <a:p>
            <a:r>
              <a:rPr sz="1700">
                <a:solidFill>
                  <a:srgbClr val="222222"/>
                </a:solidFill>
              </a:rPr>
              <a:t>•  Meets the SRS, extended by the AI module (M-10).</a:t>
            </a:r>
          </a:p>
          <a:p>
            <a:r>
              <a:rPr sz="1700">
                <a:solidFill>
                  <a:srgbClr val="222222"/>
                </a:solidFill>
              </a:rPr>
              <a:t>•  56/56 automated checks; RBAC + anti-IDOR verified live.</a:t>
            </a:r>
          </a:p>
          <a:p>
            <a:r>
              <a:rPr sz="1700">
                <a:solidFill>
                  <a:srgbClr val="222222"/>
                </a:solidFill>
              </a:rPr>
              <a:t>•  Single public port; AI isolated, token-gated and fail-closed.</a:t>
            </a:r>
          </a:p>
          <a:p>
            <a:r>
              <a:rPr sz="1700">
                <a:solidFill>
                  <a:srgbClr val="222222"/>
                </a:solidFill>
              </a:rPr>
              <a:t>•  Honest limitations disclosed (synthetic training data; no saved ROC artifacts).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